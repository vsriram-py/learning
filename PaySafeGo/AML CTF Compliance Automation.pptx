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3916" y="1453604"/>
            <a:ext cx="5776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PaySafeGo AML/CTF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85548" y="2291804"/>
            <a:ext cx="597275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Automation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881808" y="2931765"/>
            <a:ext cx="3380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Gaming &amp; Payment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08192" y="3503265"/>
            <a:ext cx="19276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• CTO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85-92% Automation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compliance workflows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AUSTRAC Compliance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AML/CTF Act 2006 &amp; Rules 2025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Human Oversight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SMR approvals &amp; EDD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 Implementation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phased rollout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Regulatory Obligations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Due Diligence: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90-95% automated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Monitoring: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92-95% automated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Matter Reports: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85% automated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Transaction Reports: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98% automated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679823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57250" y="1497211"/>
            <a:ext cx="75780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Layers: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188952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Processing: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Onboarding • Transaction Monitoring • Reporting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7250" y="217899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Intelligence: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Risk Profiles • Sanctions Lists • Analytics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7250" y="246846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Governance: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Policy Engine • Dashboards • Audit Trails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AML/CTF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TD A[User Sign-Up] --&gt; B[Risk Assessment] B --&gt; C[Automated KYC] C --&gt; D[Customer Profile] D --&gt; E[Transaction Request] E --&gt; F[Screening &amp; Monitoring] F --&gt; G{Alert?} G --&gt;|No| H[Auto-Approve] G --&gt;|Yes| I[Investigation] I --&gt; J[Compliance Officer Review] J --&gt; K[AUSTRAC Filing] style A fill:#1e293b,stroke:#38bdf8,color:#f1f5f9 style D fill:#1e293b,stroke:#38bdf8,color:#f1f5f9 style H fill:#166534,stroke:#22c55e,color:#f1f5f9 style I fill:#991b1b,stroke:#ef4444,color:#f1f5f9 style K fill:#1e293b,stroke:#38bdf8,color:#f1f5f9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 &amp; CDD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LR START[New User] --&gt; COLLECT[Collect Identity Data] COLLECT --&gt; RISK[Risk Scoring] RISK --&gt;|Low| SIMPLE[Simplified CDD] RISK --&gt;|Medium| STANDARD[Standard CDD] RISK --&gt;|High| EDD[Enhanced DD] SIMPLE --&gt; VERIFY{Verified?} STANDARD --&gt; VERIFY EDD --&gt; VERIFY VERIFY --&gt;|Yes| ONBOARD[Onboarded] VERIFY --&gt;|No| REJECT[Rejected] style START fill:#1e293b,stroke:#38bdf8,color:#f1f5f9 style RISK fill:#7c3aed,stroke:#a78bfa,color:#f1f5f9 style EDD fill:#991b1b,stroke:#ef4444,color:#f1f5f9 style ONBOARD fill:#166534,stroke:#22c55e,color:#f1f5f9 style REJECT fill:#7f1d1d,stroke:#dc2626,color:#f1f5f9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Monitoring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TD TX[Transaction] --&gt; SCREEN[Real-Time Screening] SCREEN --&gt; RULES[Rules Engine] RULES --&gt; ML[ML Anomaly Detection] ML --&gt; SCORE[Risk Scoring] SCORE --&gt; DECIDE{Risk Level} DECIDE --&gt;|Low| APPROVE[Auto-Approve] DECIDE --&gt;|Medium| FLAG[Flag for Review] DECIDE --&gt;|High| ALERT[Generate Alert] ALERT --&gt; INV[Investigation] INV --&gt; SMR[Draft SMR] SMR --&gt; FILE[File with AUSTRAC] style TX fill:#1e293b,stroke:#38bdf8,color:#f1f5f9 style RULES fill:#7c3aed,stroke:#a78bfa,color:#f1f5f9 style ML fill:#7c3aed,stroke:#a78bfa,color:#f1f5f9 style APPROVE fill:#166534,stroke:#22c55e,color:#f1f5f9 style ALERT fill:#991b1b,stroke:#ef4444,color:#f1f5f9 style FILE fill:#1e293b,stroke:#38bdf8,color:#f1f5f9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Money Laundering Patterns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deposits below $10K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In/Out: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Deposits followed by immediate withdrawals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Cashing: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Converting credits without significant play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Gaming: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deposits with low wagering activity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Money Laundering Patterns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Funding: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Payments from non-matching accounts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Anomalies: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Sudden spikes in transaction frequency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Abuse: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Exploiting promotional offers for laundering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Analysis: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Coordinated activity across accounts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Reporting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7924800" cy="336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LR EVENT[Reportable Event] --&gt; CLASS[Classify Type] CLASS --&gt; POP[Auto-Populate] POP --&gt; VAL[Validate] VAL --&gt; TYPE{Report Type} TYPE --&gt;|TTR/IFTI| AUTO[Automated Filing] TYPE --&gt;|SMR| HUMAN[Compliance Officer Review] HUMAN --&gt; SUBMIT[Submit to AUSTRAC] AUTO --&gt; ARCHIVE[Archive Records] SUBMIT --&gt; ARCHIVE ARCHIVE --&gt; RETAIN[7-Year Retention] style EVENT fill:#1e293b,stroke:#38bdf8,color:#f1f5f9 style AUTO fill:#166534,stroke:#22c55e,color:#f1f5f9 style HUMAN fill:#ea580c,stroke:#fb923c,color:#f1f5f9 style SUBMIT fill:#1e293b,stroke:#38bdf8,color:#f1f5f9 style ARCHIVE fill:#166534,stroke:#22c55e,color:#f1f5f9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23696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19202"/>
            <a:ext cx="7924800" cy="236964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&amp; Cannot Be Automated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Automatable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1950541"/>
            <a:ext cx="71628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 (95%)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(100%)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 screening (98%)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TTR/IFTI filing (98%)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84780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Requires Human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320183"/>
            <a:ext cx="71628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approval (legal requirement)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EDD decisions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appetite changes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reviews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IDV: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Australian DVS + Onfido/Jumio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 Jones / Refinitiv World-Check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NICE Actimize / SAS AML / Feedzai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Databricks / AWS SageMaker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(0-3m):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Foundation - regulatory framework &amp; data architecture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(3-6m):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MVP - core onboarding &amp; basic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(6-12m):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Scale - ML models &amp; AUSTRAC API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(12-18m):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 - model tuning &amp; independent review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38291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32472"/>
            <a:ext cx="7924800" cy="138291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Program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541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$3.3M - $4.3M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221724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 FTE annually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8200" y="286107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Program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333452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$2.0M - $2.5M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360015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 FTE annually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424398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Savings: $1.3M - $1.8M (39-42% reduction)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Implementation Risks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Over-Automation: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Violating AUSTRAC human oversight requirements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False Positives: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Overwhelming investigators with alerts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Bias: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Discriminatory treatment based on protected attributes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Breach: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Compromise of sensitive KYC information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09329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100% Automation is Illegal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161"/>
            <a:ext cx="75780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AML/CTF Act Section 41: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76300" y="1870472"/>
            <a:ext cx="757809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person must not make a suspect transaction report unless they have </a:t>
            </a:r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reasonable grounds to suspect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571452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 required for suspicion-based decisions. Automation can detect, but cannot legally form suspicion.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Staffing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Compliance Officer (program oversight, SMR approval)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Senior Analysts (EDD reviews, complex cases)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FTE: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Investigators (alert triage, SMR drafting)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Scientists &amp; Engineers (model development)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305514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8-12 FTE vs. 30-40 for manual programs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STP Rate: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&gt;90% for low/medium risk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Monitoring STP: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&gt;92% (no alert)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Rate: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&lt;5% of total alerts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Recall: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&gt;90% (detect actual suspicious activity)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Inventory: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Register of all ML models with metadata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Protocol: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Independent validation before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Monitoring: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 KPIs (detection rate, false positives)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Testing: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Fairness audits by external data ethics consultant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218673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 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38200" y="147816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KPIs: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767632"/>
            <a:ext cx="71628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risk distribution (Low/Medium/High)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pipeline status (Generated/Investigated/Filed/Closed)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cost metrics (per customer, per alert)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AUSTRAC submission timeliness (100% target)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Approval: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AML/CTF Program document (Week 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Selection: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IDV, sanctions screening, monitoring (Week 8)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Recruitment: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Compliance Officer + initial analysts (Week 12)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onboarding + basic monitoring (Month 6)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402" y="1646039"/>
            <a:ext cx="256519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85028" y="2423220"/>
            <a:ext cx="39739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PaySafeGo AML/CTF Compliance Framework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72822" y="2994720"/>
            <a:ext cx="19983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compliance@paysafego.com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1399" y="3284190"/>
            <a:ext cx="47612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detailed technical documentation, see the full compliance manual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2026-03-02T15:15:08Z</dcterms:created>
  <dcterms:modified xsi:type="dcterms:W3CDTF">2026-03-02T15:15:08Z</dcterms:modified>
</cp:coreProperties>
</file>