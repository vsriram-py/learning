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6081" y="1537395"/>
            <a:ext cx="5411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06197" y="2375595"/>
            <a:ext cx="5131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Management System (ISMS)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22372" y="2847975"/>
            <a:ext cx="3899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Foundations &amp; Organizational Context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55619" y="3419475"/>
            <a:ext cx="38326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for Banks &amp; High-Risk Industries with IoT 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Learning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Introduction &amp; ISO 27001 Purpose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Principles &amp; PDCA Cycle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4: Understanding Your Context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ISMS Scope (Workshop)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13134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Focus: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the foundation - understand WHAT you're protecting and WHY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ISO 27001:2022?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Information Security Management 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approach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protecting sensitive information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framework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confidentiality, integrity, availability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Plan-Do-Check-Act cycle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21334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83012"/>
            <a:ext cx="7924800" cy="21334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ISO 27001 for Banking &amp; IoT?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Imperatives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19200" y="2026741"/>
            <a:ext cx="70104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(Basel, PCI DSS)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 &amp; data protection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&amp; ransomware defense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878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Challenges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4160193"/>
            <a:ext cx="70104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attack surface (1000s of devices)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firmware vulnerabilities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operational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IoT Threats in Banking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 Malware: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Jackpotting attacks via unpatched vulnerabilities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 Exploitation: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HVAC systems as network entry points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Data Breaches: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Facial recognition systems compromised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Botnets: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Cameras and sensors recruited for DDoS attacks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8-14 months from start to certification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1-2 months - Assess current state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6-12 months - Build ISMS, deploy controls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month - Validate readiness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Audit: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 review by certifier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Lifecycle (cont.)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Audit: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On-site implementation verification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Awarded: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 for 3 years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Audits: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 reviews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Recertification: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3 years - full reassessment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13134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Success Factor: Executive commitment and adequate resourcing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187" y="1846064"/>
            <a:ext cx="272762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PDCA 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83903" y="2486025"/>
            <a:ext cx="19761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- Do - Check - Act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18651" y="3057525"/>
            <a:ext cx="43066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heartbeat of continuous improvement in ISO 27001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PDCA: Plan (Clauses 4-6)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ISMS 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 your environment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What's included, what's excluded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policies: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Strategic direction from leadership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risk assessment: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threats and vulnerabilities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PDCA: Do (Clauses 7-8)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resources: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People, budget, technology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competence: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and awareness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controls: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Annex A safeguards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operations: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Execute risk treatment plan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PDCA: Check (Clause 9)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metrics and KPIs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internal audits: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control effectiveness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review: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Executive assessment of ISMS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effectiveness: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controls working?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PDCA: Act (Clause 10)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nonconformities: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 what's broken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corrective actions: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 recurrence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improve: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 to evolving threats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ISMS: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Respond to changes in context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27001:2022 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Clauses + Annex 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0-3: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Introduction (non-mandatory)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Clauses 4-10: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ISMS Requirements (mandatory)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93 Security Controls (select based on risk)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A: 4 Control Themes (New in 2022)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 Organizational (37 controls):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Policies, governance, suppliers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A.6 People (8 controls):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 security, awareness,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A.7 Physical (14 controls):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Premises, environmental security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 Technological (34 controls):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Network, crypto, malware defense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New Controls (2013 → 2022)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Banking &amp; IoT: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A.5.7: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Threat Intelligence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A.5.23: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Services Security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A.8.9: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Configuration Management (IoT devices)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A.8.12: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Leakage Prevention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2599" y="1846064"/>
            <a:ext cx="143865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389139" y="2486025"/>
            <a:ext cx="236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of the Organization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66233" y="3057525"/>
            <a:ext cx="54115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your environment is the foundation of effective security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4.1: Internal &amp; External Issues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Determine issues affecting your ISMS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Regulations, threats, economic conditions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Culture, processes, technology, people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PESTLE Analysis for Banking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21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protection laws, government surveillance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Budget constraints, fraud during recession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Remote work, BYOD trends, customer expectations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migration, IoT proliferation, AI adoption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PCI DSS, Basel framework, GDPR compliance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disasters affecting data centers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4.2: Interested Parties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with information security requirements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Compliance, incident reporting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privacy, breach notification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 oversight, security posture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Providers: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Shared responsibility, SLAs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Vendors as Interested Parties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banking IoT deployments: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update lifecycle: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long supported?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disclosure: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Timely notifications?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End-of-support dates: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for device replacement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4.3: Determining ISMS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boundaries of your ISMS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locations (branches, data centers, cloud)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systems (IT, IoT, applications)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processes supported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justification for exclusions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Scope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connected devices: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ATMs, cameras, sensors, locks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network segments: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Segregated from corporate LAN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management platforms: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Device configuration systems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Remote maintenance connections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13134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forget: 1000 IoT devices = 1000x attack surface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631" y="1846064"/>
            <a:ext cx="26107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Time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64890" y="2486025"/>
            <a:ext cx="2214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Definition Exercise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65335" y="3057525"/>
            <a:ext cx="38131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 ISMS scope statement for FinTrust Bank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2599" y="1846064"/>
            <a:ext cx="143865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21776" y="2486025"/>
            <a:ext cx="2300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Commitment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29141" y="3057525"/>
            <a:ext cx="18857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starts at the top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5.1: Leadership Responsibilities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management must: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ISMS aligns with business strategy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adequate resources (budget, people, tools)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importance of security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continual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Leadership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executive commitment: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viewed as "IT problem" not business priority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Inadequate budget and staffing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ignored or undermined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 fail due to lack of authority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5.2: Information Security Policy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document of your ISMS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to organizational purpose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security objectives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compliance &amp; improvement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Communicated &amp; available to stakeholders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Must Address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 from unauthorized disclosure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Ensure accuracy and completeness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Accessible when needed (99.95% uptime)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approach: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Prioritize high-value assets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5.3: Roles &amp; Responsibilities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security duties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Ultimate accountability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and manage ISMS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Leaders: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in their domains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Employees: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Follow policies, report incidents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IoT-Specific Security Role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Device Manager responsibilities: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inventory of all IoT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current, supported firmware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for unauthorized configuration changes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compromised devices immediately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631" y="1846064"/>
            <a:ext cx="261073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Time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184353" y="2486025"/>
            <a:ext cx="2775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Information Security Policy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65526" y="3057525"/>
            <a:ext cx="36128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policy for TechManufacture Industries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provides systematic ISMS framework via PDCA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analysis (Clause 4) drives everything else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scope must be clearly defined with justifications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commitment is non-negotiable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4265" y="1846064"/>
            <a:ext cx="175546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80458" y="2486025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3089" y="3057525"/>
            <a:ext cx="457782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Day 2 - Risk Management &amp; Support Processes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2026-02-14T12:20:22Z</dcterms:created>
  <dcterms:modified xsi:type="dcterms:W3CDTF">2026-02-14T12:20:22Z</dcterms:modified>
</cp:coreProperties>
</file>